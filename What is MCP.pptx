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5" r:id="rId3"/>
    <p:sldId id="296" r:id="rId4"/>
    <p:sldId id="297" r:id="rId5"/>
    <p:sldId id="29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94660"/>
  </p:normalViewPr>
  <p:slideViewPr>
    <p:cSldViewPr snapToGrid="0">
      <p:cViewPr varScale="1">
        <p:scale>
          <a:sx n="88" d="100"/>
          <a:sy n="88" d="100"/>
        </p:scale>
        <p:origin x="9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96B2F-B2A8-16D7-873D-3457983610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38CFBA-8701-B9D6-35F5-8E60ABC4B2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84E83-5677-1C0D-22C2-AF25C2407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94522-320C-48E1-9641-DA280AA35E2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1529F-4540-0837-B694-C7BA710AE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A3446-EE16-AF47-DFD9-EC47FEEF4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15E96-4E3B-44BD-892E-5E741B95C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96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E650F-E72C-6DE4-20FF-2485CDABC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DC2F9-C39F-3DD0-1E44-1D37AE0A2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345EF-4289-94CE-AE6E-5DD0ACCD6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94522-320C-48E1-9641-DA280AA35E2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40523-5155-66E7-FA38-4344F2707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808BA-7CDA-3F18-10AD-93FA066A5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15E96-4E3B-44BD-892E-5E741B95C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931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203D9-4E07-70C3-E014-83C0D2306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8D26DD-571E-33A2-CC9D-660FA9A9B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9F31B-DDCD-6383-93B0-6704CF28F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94522-320C-48E1-9641-DA280AA35E2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3B908-4283-7DC2-E82E-F60DE2C71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83740-8A42-7D03-9FE6-0D01CB18D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15E96-4E3B-44BD-892E-5E741B95C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73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FE7B7-7A5C-7789-870F-F48739099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0F5EC-706B-CF0D-CFE8-BB6230A826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75FF4-D557-7251-28DA-FCF0F443D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E3003-D6A2-6944-A57C-79124FD52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94522-320C-48E1-9641-DA280AA35E2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1A84E2-0B7A-DA77-77D6-CCD2326A9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93300-6E23-BF14-E2B4-3291C859C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15E96-4E3B-44BD-892E-5E741B95C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385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AB8B-44B9-4ACC-1A5F-7108F9B4A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4CF6E-66B2-5A26-9E42-EC6D10DB2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D7F2D-363F-D0D2-84FD-B61DBB9E8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7D67E9-0BAD-B95C-6791-C875C2895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DAA59F-A1A4-DFA6-982B-CB9AF732E2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7FE44B-A9B1-EC4B-C8B9-13ED79AB0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94522-320C-48E1-9641-DA280AA35E2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5893B2-FB7A-FCE4-7C29-C21230E93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09B361-3F4E-1C1A-29AC-7F2330E36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15E96-4E3B-44BD-892E-5E741B95C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12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72611-6753-11E7-6BAA-00D8AF91C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B60142-01D4-C44F-A6C4-50DCD7BB1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94522-320C-48E1-9641-DA280AA35E2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DF3EB5-6FE7-E568-63BD-11055950D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4AB1BB-1A72-28DF-005C-31529EE87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15E96-4E3B-44BD-892E-5E741B95C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85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21D736-EE09-56B6-A785-AAE962540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94522-320C-48E1-9641-DA280AA35E2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82D31-6665-FDE5-3669-B7B376B48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4A722-04D5-C895-6B17-6D40C4427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15E96-4E3B-44BD-892E-5E741B95C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17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D3127-88C7-58D8-D422-046ECC90B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0C77E-005D-F186-C250-198543211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745C9-9419-6DA3-C6E3-3FA8EE203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4ED90E-0A6F-D711-D98C-F034FCFB2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94522-320C-48E1-9641-DA280AA35E2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ED1E7-85CA-3906-3E6C-63830BD85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C0CF4-1C55-ECD2-B709-2AFEFD2C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15E96-4E3B-44BD-892E-5E741B95C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49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BA8B9-0690-7E05-2E58-4F4AB853F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71DAFE-FE84-B95E-CA8B-E6044FFA3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EC72D8-0047-97E9-D511-3D3110C29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C1119-605B-822B-7908-429F87057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94522-320C-48E1-9641-DA280AA35E2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54EDA-BDB9-6AA0-6630-367384CF9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16F6F-692A-5E13-650D-7DF3242F6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15E96-4E3B-44BD-892E-5E741B95C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870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10D7-E4BA-AC2E-7456-4960472FB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CB69F-68F2-4471-EF12-DA178A581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CB7C7-0B37-34F5-26DC-94B6CF194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94522-320C-48E1-9641-DA280AA35E2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3CD6A-2E99-FA6B-348D-244631E9D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9B078-DCE2-D0AB-57E3-DFA7D4EBA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15E96-4E3B-44BD-892E-5E741B95C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368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6DC522-B032-C2F1-48C1-6A1255F2A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CD6C51-0D7E-AD8C-C67F-9CD5B3ECCC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CE3EC-5ECE-A107-3267-D769D9EEA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94522-320C-48E1-9641-DA280AA35E2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DA30D-6BE7-776D-55BE-84107A7C3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C3B4A-1C9E-E140-5781-25194A982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15E96-4E3B-44BD-892E-5E741B95C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50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9F2147-C286-909B-E79B-80776E06A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E4F8D-1CF1-D581-2313-D00E9CBDD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F9E8C-E231-C445-93AE-128163639A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994522-320C-48E1-9641-DA280AA35E2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FFC55-38E1-6750-2891-F3CE3916C6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3330E-FA11-E6B6-E63E-B0F21A2C78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515E96-4E3B-44BD-892E-5E741B95C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07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FE60C-3972-FA32-1329-B743DD0556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MCP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7C92C-96A2-E70E-660C-D97E15B56D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60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A36C1-4ABC-AC74-95AE-5ED2D3DE5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926FD-23AF-2200-7EAD-46121EDFF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Model Context Protocol (MCP)</a:t>
            </a:r>
            <a:r>
              <a:rPr lang="en-US" dirty="0"/>
              <a:t>, introduced by Anthropic in November 2024, is an open standard designed to revolutionize how Large Language Models (LLMs) integrate with external data and tools. It essentially acts as a "</a:t>
            </a:r>
            <a:r>
              <a:rPr lang="en-US" b="1" dirty="0"/>
              <a:t>universal adapter</a:t>
            </a:r>
            <a:r>
              <a:rPr lang="en-US" dirty="0"/>
              <a:t>" (often compared to a </a:t>
            </a:r>
            <a:r>
              <a:rPr lang="en-US" b="1" dirty="0"/>
              <a:t>USB-C port</a:t>
            </a:r>
            <a:r>
              <a:rPr lang="en-US" dirty="0"/>
              <a:t>) that allows any AI model to seamlessly "plug into" a wide variety of data sources—such as Google Drive, Slack, GitHub, or local databases—without needing custom, vendor-specific code for every connection.</a:t>
            </a:r>
          </a:p>
        </p:txBody>
      </p:sp>
    </p:spTree>
    <p:extLst>
      <p:ext uri="{BB962C8B-B14F-4D97-AF65-F5344CB8AC3E}">
        <p14:creationId xmlns:p14="http://schemas.microsoft.com/office/powerpoint/2010/main" val="4261757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F35F-4CF4-E7A4-707C-A76EE5D70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Components and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81389-B78F-93A1-0990-E1A981A30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Core Components and Architecture:</a:t>
            </a:r>
          </a:p>
          <a:p>
            <a:r>
              <a:rPr lang="en-US" b="1" dirty="0"/>
              <a:t>MCP Host</a:t>
            </a:r>
            <a:r>
              <a:rPr lang="en-US" dirty="0"/>
              <a:t>: The user-facing AI application (e.g., Claude Desktop or an AI-powered IDE like Cursor) where the LLM resides.</a:t>
            </a:r>
          </a:p>
          <a:p>
            <a:r>
              <a:rPr lang="en-US" b="1" dirty="0"/>
              <a:t>MCP Client</a:t>
            </a:r>
            <a:r>
              <a:rPr lang="en-US" dirty="0"/>
              <a:t>: An intermediary within the host that translates requests between the LLM and the server.</a:t>
            </a:r>
          </a:p>
          <a:p>
            <a:r>
              <a:rPr lang="en-US" b="1" dirty="0"/>
              <a:t>MCP Server</a:t>
            </a:r>
            <a:r>
              <a:rPr lang="en-US" dirty="0"/>
              <a:t>: A lightweight program that exposes specific data or tools (e.g., a server that queries a database or searches local files).</a:t>
            </a:r>
          </a:p>
          <a:p>
            <a:r>
              <a:rPr lang="en-US" b="1" dirty="0"/>
              <a:t>Capabilities</a:t>
            </a:r>
            <a:r>
              <a:rPr lang="en-US" dirty="0"/>
              <a:t>: These servers offer </a:t>
            </a:r>
            <a:r>
              <a:rPr lang="en-US" b="1" dirty="0"/>
              <a:t>Resources</a:t>
            </a:r>
            <a:r>
              <a:rPr lang="en-US" dirty="0"/>
              <a:t> (data to be read), </a:t>
            </a:r>
            <a:r>
              <a:rPr lang="en-US" b="1" dirty="0"/>
              <a:t>Tools</a:t>
            </a:r>
            <a:r>
              <a:rPr lang="en-US" dirty="0"/>
              <a:t> (functions to be executed), and </a:t>
            </a:r>
            <a:r>
              <a:rPr lang="en-US" b="1" dirty="0"/>
              <a:t>Prompts</a:t>
            </a:r>
            <a:r>
              <a:rPr lang="en-US" dirty="0"/>
              <a:t> (pre-defined templates).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526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BE8AC-1A00-3528-8806-E3F9991FC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1257"/>
            <a:ext cx="10515600" cy="591570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Why MCP is Significant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Solves the "N x M" Integration Problem</a:t>
            </a:r>
            <a:r>
              <a:rPr lang="en-US" dirty="0"/>
              <a:t>: Previously, developers had to build unique connectors for every model-tool pairing. MCP provides a single standard, meaning you build the integration once, and it works across all MCP-compliant AI systems.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Reduces Hallucinations</a:t>
            </a:r>
            <a:r>
              <a:rPr lang="en-US" dirty="0"/>
              <a:t>: By providing models with a standardized path to real-time, reliable external data, MCP ensures responses are grounded in current facts rather than static training data.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Enables Agentic AI</a:t>
            </a:r>
            <a:r>
              <a:rPr lang="en-US" dirty="0"/>
              <a:t>: It transforms LLMs from static chat programs into "smart agents" capable of taking independent actions, such as searching Slack, querying databases, or even performing web searches.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Efficiency and Token Savings</a:t>
            </a:r>
            <a:r>
              <a:rPr lang="en-US" dirty="0"/>
              <a:t>: Advanced implementations like "Code Mode" allow agents to interact with MCP servers as code APIs, which can reduce token consumption by up to </a:t>
            </a:r>
            <a:r>
              <a:rPr lang="en-US" b="1" dirty="0"/>
              <a:t>98.7%</a:t>
            </a:r>
            <a:r>
              <a:rPr lang="en-US" dirty="0"/>
              <a:t> by loading only necessary data.</a:t>
            </a:r>
          </a:p>
        </p:txBody>
      </p:sp>
    </p:spTree>
    <p:extLst>
      <p:ext uri="{BB962C8B-B14F-4D97-AF65-F5344CB8AC3E}">
        <p14:creationId xmlns:p14="http://schemas.microsoft.com/office/powerpoint/2010/main" val="1647737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EF8D5-6517-4225-8C0B-2B6AA9862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1507"/>
            <a:ext cx="10515600" cy="581545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Current Ecosystem and Support</a:t>
            </a:r>
          </a:p>
          <a:p>
            <a:r>
              <a:rPr lang="en-US" b="1" dirty="0"/>
              <a:t>Adoption</a:t>
            </a:r>
            <a:r>
              <a:rPr lang="en-US" dirty="0"/>
              <a:t>: Since its launch, it has been rapidly adopted by major AI providers like </a:t>
            </a:r>
            <a:r>
              <a:rPr lang="en-US" b="1" dirty="0"/>
              <a:t>OpenAI</a:t>
            </a:r>
            <a:r>
              <a:rPr lang="en-US" dirty="0"/>
              <a:t> (ChatGPT Desktop), </a:t>
            </a:r>
            <a:r>
              <a:rPr lang="en-US" b="1" dirty="0"/>
              <a:t>Google DeepMind</a:t>
            </a:r>
            <a:r>
              <a:rPr lang="en-US" dirty="0"/>
              <a:t>, and developer tools like </a:t>
            </a:r>
            <a:r>
              <a:rPr lang="en-US" b="1" dirty="0" err="1"/>
              <a:t>Sourcegraph</a:t>
            </a:r>
            <a:r>
              <a:rPr lang="en-US" dirty="0"/>
              <a:t>, </a:t>
            </a:r>
            <a:r>
              <a:rPr lang="en-US" b="1" dirty="0"/>
              <a:t>Zed</a:t>
            </a:r>
            <a:r>
              <a:rPr lang="en-US" dirty="0"/>
              <a:t>, and </a:t>
            </a:r>
            <a:r>
              <a:rPr lang="en-US" b="1" dirty="0" err="1"/>
              <a:t>Replit</a:t>
            </a:r>
            <a:r>
              <a:rPr lang="en-US" dirty="0"/>
              <a:t>.</a:t>
            </a:r>
          </a:p>
          <a:p>
            <a:r>
              <a:rPr lang="en-US" b="1" dirty="0"/>
              <a:t>Open Source</a:t>
            </a:r>
            <a:r>
              <a:rPr lang="en-US" dirty="0"/>
              <a:t>: The protocol is now a project hosted by </a:t>
            </a:r>
            <a:r>
              <a:rPr lang="en-US" b="1" dirty="0"/>
              <a:t>The Linux Foundation</a:t>
            </a:r>
            <a:r>
              <a:rPr lang="en-US" dirty="0"/>
              <a:t> and includes SDKs for Python, TypeScript, Java, Go, and more.</a:t>
            </a:r>
          </a:p>
          <a:p>
            <a:r>
              <a:rPr lang="en-US" b="1" dirty="0"/>
              <a:t>Existing Integrations</a:t>
            </a:r>
            <a:r>
              <a:rPr lang="en-US" dirty="0"/>
              <a:t>: Anthropic provides pre-built servers for popular tools including </a:t>
            </a:r>
            <a:r>
              <a:rPr lang="en-US" b="1" dirty="0"/>
              <a:t>Google Drive, Slack, GitHub, Postgres, and Puppeteer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612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449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What is MCP</vt:lpstr>
      <vt:lpstr>MCP</vt:lpstr>
      <vt:lpstr>Core Components and Architecture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Paul</dc:creator>
  <cp:lastModifiedBy>Liu, Paul</cp:lastModifiedBy>
  <cp:revision>1</cp:revision>
  <dcterms:created xsi:type="dcterms:W3CDTF">2026-01-05T01:01:19Z</dcterms:created>
  <dcterms:modified xsi:type="dcterms:W3CDTF">2026-01-05T01:02:15Z</dcterms:modified>
</cp:coreProperties>
</file>