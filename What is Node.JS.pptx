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5" r:id="rId4"/>
    <p:sldId id="286" r:id="rId5"/>
    <p:sldId id="287" r:id="rId6"/>
    <p:sldId id="28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8981-3660-D2EF-7A5A-A042B0E48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8419C-AED2-EC16-8DC6-C706CF7A9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1336-609A-EA6D-9E77-450972FF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22C27-5569-CA38-99B6-120F43A1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C01EA-221A-7650-8EFC-0E97EED9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4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BB81-18C4-CF31-C6D2-CAB2D8F2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13DB5-2FEF-F2AE-456B-25E3D371F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1F347-4EB9-CD32-B35E-A3CEDF6CE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B1C46-143D-DC18-6ECC-9C360F78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25557-2A2B-9085-0CA1-99C249DB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9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F39E-5986-A5B4-C125-D0CDED78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6FDF6-3EEA-85BB-0E99-830E94B66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569CF-2C9A-70B7-5D5D-A03493CC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DE392-5FE1-4249-AEE5-6F3B491E1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141D-7873-4CA0-7F18-3B3E31F2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2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7374-8B9F-6788-2FA4-8A93C9B0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AA52-F3A8-B95F-9B56-560C8647B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2C175-F1A9-9875-93D5-1415CF26C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58E3A-C70C-864C-EB8E-031A2D35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0BE47-A08D-0463-BD64-69E2FD3F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1FFB2-2775-1288-E540-E32350420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5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0778-3119-F0BE-74CC-B153F14C2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C45BF-01FC-A76F-3732-70932A84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AE074-AD85-676F-DF88-97DECE6C3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5B8C1-843A-9733-8E72-6FEA4E0ED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20C46-FBAC-55E5-907E-F2D6172C0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53780-3E27-4AB5-DF65-F6DE9BCF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FF0F6-B2A4-01E1-EAF8-FEC05AF8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7702B-BE93-453F-5F1C-AD930014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3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DEB-45BD-0D6A-AFBC-C680BFA9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5E3DA-A952-F718-85A0-980DEE60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D7C47-95EA-E682-3F24-28354463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2FBEB-E46B-0418-E9E7-A3606717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D3560-04DD-30BE-D7B2-E6B47DF9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BBA95-AF4C-9CA7-2F63-0BA836BB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2A202-9FC2-750D-E077-743232B8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2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7B1E-0627-04F7-DEE8-D05FEEB2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D057-4847-3C4A-EC86-594E075E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793EF-4F9D-1681-9576-DE24E1803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FED76-23B4-DF69-9C25-7F315C87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96C58-0B81-109D-77EC-7718895D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5AADB-F50B-84D5-7EEC-480FBA79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1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FE9E-E4FB-E513-6973-5D4C5EA7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59DCD-22EF-FECC-9CE6-627CA85D35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DC194-2CB4-6CAB-5FFF-314E22232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9E1E2-68F3-1C9C-AF76-B273B030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DDA47-3941-9DE7-C91C-84A5E574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A10B8-9E54-D1F5-EECC-C2E7380B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6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9395-D743-F71B-C1BF-10168AF92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99D93-5397-39B5-C444-9D543254B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A48D7-7422-FB93-223E-D51D98D5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ED6FE-2B4D-2194-25E9-E2C5931D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82B0D-93AE-658A-B9E0-80EE6B69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2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93C95-91CC-2370-4664-824CDACC1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DF507-0074-6D11-7E81-C5A887023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783B-DA8F-64AE-6D34-685940E7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BBEAA-E8D2-D7FD-2A7A-87685113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9F47-01B3-79A8-5547-AC356596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3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90898-97F6-848E-9F0E-76187D29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20337-DAFA-3331-FF41-C0E4F981F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D8065-02D3-8977-CC14-15F4BC361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63BFB-60AC-43C9-8E02-362BA1F58A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F561C-EF4E-C4AA-3A74-C3750F979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04D5B-8B2B-F3BC-5974-0CE6A20E5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C4C5B-9CCA-4DF3-84ED-20C5AF094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2EB4-BD0E-BAD0-21F2-4C2283212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Node.JS?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561A-5BE6-EBB6-99E0-29D6E16D1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6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25D7-6C58-ECF5-7979-FD8AA0F6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78F6A-4BB9-2B85-A6AE-BC8E0D3E0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8492"/>
            <a:ext cx="2688671" cy="2721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26263-9FE4-CFF9-F56D-462537EC2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242" y="1027906"/>
            <a:ext cx="3064231" cy="34219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375956-2078-5FD6-438F-30FEC95466B9}"/>
              </a:ext>
            </a:extLst>
          </p:cNvPr>
          <p:cNvSpPr/>
          <p:nvPr/>
        </p:nvSpPr>
        <p:spPr>
          <a:xfrm>
            <a:off x="838200" y="4568161"/>
            <a:ext cx="10240926" cy="2130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Node.js is a cross-platform, open-source JavaScript runtime environment that allows you to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execute JavaScript code on the server side</a:t>
            </a:r>
            <a:r>
              <a:rPr lang="en-US" sz="2400" dirty="0">
                <a:solidFill>
                  <a:schemeClr val="bg1"/>
                </a:solidFill>
              </a:rPr>
              <a:t>, outside of a web browser</a:t>
            </a:r>
          </a:p>
          <a:p>
            <a:r>
              <a:rPr lang="en-US" sz="2000" dirty="0"/>
              <a:t>Originally created by Ryan Dahl in 2009, it is built on </a:t>
            </a:r>
            <a:r>
              <a:rPr lang="en-US" sz="2000" b="1" dirty="0"/>
              <a:t>Google Chrome's V8 JavaScript engine</a:t>
            </a:r>
            <a:r>
              <a:rPr lang="en-US" sz="2000" dirty="0"/>
              <a:t>, which compiles JavaScript directly into native machine code for extremely fast execution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31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25F0-D017-F921-7391-0D7084C5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Architecture of Node.js: 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1CFF-B77B-AC1B-3493-FCA31EC2A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Unlike traditional </a:t>
            </a:r>
            <a:r>
              <a:rPr lang="en-US" dirty="0">
                <a:highlight>
                  <a:srgbClr val="FFFF00"/>
                </a:highlight>
              </a:rPr>
              <a:t>web servers </a:t>
            </a:r>
            <a:r>
              <a:rPr lang="en-US" dirty="0"/>
              <a:t>that create a new "thread" (a separate process) for every single user request, Node.js uses a </a:t>
            </a:r>
            <a:r>
              <a:rPr lang="en-US" b="1" dirty="0"/>
              <a:t>Single-Threaded Event Loop</a:t>
            </a:r>
            <a:r>
              <a:rPr lang="en-US" dirty="0"/>
              <a:t> mode</a:t>
            </a:r>
          </a:p>
          <a:p>
            <a:r>
              <a:rPr lang="en-US" b="1" dirty="0"/>
              <a:t>Non-Blocking I/O:</a:t>
            </a:r>
            <a:r>
              <a:rPr lang="en-US" dirty="0"/>
              <a:t> When Node.js performs a task like reading a file or querying a database, it doesn't wait for the task to finish. Instead, it offloads that task to the system and moves on to the next request immediately.</a:t>
            </a:r>
          </a:p>
          <a:p>
            <a:r>
              <a:rPr lang="en-US" b="1" dirty="0"/>
              <a:t>The Event Loop:</a:t>
            </a:r>
            <a:r>
              <a:rPr lang="en-US" dirty="0"/>
              <a:t> This is the "brain" of Node.js. It continuously monitors a queue of completed tasks and triggers "callbacks" (responses) once the data is ready.</a:t>
            </a:r>
          </a:p>
          <a:p>
            <a:r>
              <a:rPr lang="en-US" b="1" dirty="0"/>
              <a:t>Efficiency:</a:t>
            </a:r>
            <a:r>
              <a:rPr lang="en-US" dirty="0"/>
              <a:t> This architecture allows a single Node.js server to handle thousands of concurrent connections simultaneously with very low memory usage.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02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C790-0A9E-0815-3ED5-5DEA0C4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456D-F553-F684-239E-CDA0F4ED9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Unified Language:</a:t>
            </a:r>
            <a:r>
              <a:rPr lang="en-US" dirty="0"/>
              <a:t> You can use JavaScript for both the </a:t>
            </a:r>
            <a:r>
              <a:rPr lang="en-US" b="1" dirty="0"/>
              <a:t>frontend</a:t>
            </a:r>
            <a:r>
              <a:rPr lang="en-US" dirty="0"/>
              <a:t> (browser) and the </a:t>
            </a:r>
            <a:r>
              <a:rPr lang="en-US" b="1" dirty="0"/>
              <a:t>backend</a:t>
            </a:r>
            <a:r>
              <a:rPr lang="en-US" dirty="0"/>
              <a:t> (server), which simplifies development and code sharing.</a:t>
            </a:r>
          </a:p>
          <a:p>
            <a:r>
              <a:rPr lang="en-US" b="1" dirty="0"/>
              <a:t>Vast Ecosystem (</a:t>
            </a:r>
            <a:r>
              <a:rPr lang="en-US" b="1" dirty="0">
                <a:solidFill>
                  <a:srgbClr val="FF0000"/>
                </a:solidFill>
              </a:rPr>
              <a:t>NPM</a:t>
            </a:r>
            <a:r>
              <a:rPr lang="en-US" b="1" dirty="0"/>
              <a:t>):</a:t>
            </a:r>
            <a:r>
              <a:rPr lang="en-US" dirty="0"/>
              <a:t> Node comes with </a:t>
            </a:r>
            <a:r>
              <a:rPr lang="en-US" b="1" dirty="0"/>
              <a:t>NPM (</a:t>
            </a:r>
            <a:r>
              <a:rPr lang="en-US" b="1" dirty="0">
                <a:solidFill>
                  <a:srgbClr val="FF0000"/>
                </a:solidFill>
              </a:rPr>
              <a:t>Node Package Manager</a:t>
            </a:r>
            <a:r>
              <a:rPr lang="en-US" b="1" dirty="0"/>
              <a:t>)</a:t>
            </a:r>
            <a:r>
              <a:rPr lang="en-US" dirty="0"/>
              <a:t>, the world's largest registry of open-source libraries, allowing you to easily add pre-built features to your app</a:t>
            </a:r>
          </a:p>
          <a:p>
            <a:r>
              <a:rPr lang="en-US" b="1" dirty="0"/>
              <a:t>System Access:</a:t>
            </a:r>
            <a:r>
              <a:rPr lang="en-US" dirty="0"/>
              <a:t> Unlike browser JavaScript, </a:t>
            </a:r>
            <a:r>
              <a:rPr lang="en-US" dirty="0">
                <a:highlight>
                  <a:srgbClr val="FFFF00"/>
                </a:highlight>
              </a:rPr>
              <a:t>Node.js can directly access your computer's </a:t>
            </a:r>
            <a:r>
              <a:rPr lang="en-US" b="1" dirty="0">
                <a:highlight>
                  <a:srgbClr val="FFFF00"/>
                </a:highlight>
              </a:rPr>
              <a:t>file system</a:t>
            </a:r>
            <a:r>
              <a:rPr lang="en-US" dirty="0"/>
              <a:t>, manage network connections, and interact with operating system hardware.</a:t>
            </a:r>
          </a:p>
          <a:p>
            <a:r>
              <a:rPr lang="en-US" b="1" dirty="0"/>
              <a:t>Native TypeScript Support:</a:t>
            </a:r>
            <a:r>
              <a:rPr lang="en-US" dirty="0"/>
              <a:t> From version 22.6.0 onwards, Node.js can execute TypeScript files directly without needing a separate compilation step</a:t>
            </a:r>
          </a:p>
        </p:txBody>
      </p:sp>
    </p:spTree>
    <p:extLst>
      <p:ext uri="{BB962C8B-B14F-4D97-AF65-F5344CB8AC3E}">
        <p14:creationId xmlns:p14="http://schemas.microsoft.com/office/powerpoint/2010/main" val="416518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90A9-C462-0FEC-6982-B25E9303E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1861F-20CE-89B4-DB7D-6D9078BF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Node.js is the preferred choice for applications that require high performance and real-time updates:</a:t>
            </a:r>
          </a:p>
          <a:p>
            <a:r>
              <a:rPr lang="en-US" b="1" dirty="0"/>
              <a:t>Real-Time Apps:</a:t>
            </a:r>
            <a:r>
              <a:rPr lang="en-US" dirty="0"/>
              <a:t> Chat applications (like WhatsApp), online gaming, and collaboration tools (like Google Docs).</a:t>
            </a:r>
          </a:p>
          <a:p>
            <a:r>
              <a:rPr lang="en-US" b="1" dirty="0"/>
              <a:t>Streaming Services:</a:t>
            </a:r>
            <a:r>
              <a:rPr lang="en-US" dirty="0"/>
              <a:t> Platforms like </a:t>
            </a:r>
            <a:r>
              <a:rPr lang="en-US" b="1" dirty="0"/>
              <a:t>Netflix</a:t>
            </a:r>
            <a:r>
              <a:rPr lang="en-US" dirty="0"/>
              <a:t> use Node.js to handle massive data streams efficiently.</a:t>
            </a:r>
          </a:p>
          <a:p>
            <a:r>
              <a:rPr lang="en-US" b="1" dirty="0"/>
              <a:t>APIs and Microservices:</a:t>
            </a:r>
            <a:r>
              <a:rPr lang="en-US" dirty="0"/>
              <a:t> It is ideal for building fast </a:t>
            </a:r>
            <a:r>
              <a:rPr lang="en-US" dirty="0">
                <a:solidFill>
                  <a:srgbClr val="FF0000"/>
                </a:solidFill>
              </a:rPr>
              <a:t>RESTful</a:t>
            </a:r>
            <a:r>
              <a:rPr lang="en-US" dirty="0"/>
              <a:t> or </a:t>
            </a:r>
            <a:r>
              <a:rPr lang="en-US" dirty="0" err="1">
                <a:solidFill>
                  <a:srgbClr val="FF0000"/>
                </a:solidFill>
              </a:rPr>
              <a:t>GraphQL</a:t>
            </a:r>
            <a:r>
              <a:rPr lang="en-US" dirty="0"/>
              <a:t> APIs that </a:t>
            </a:r>
            <a:r>
              <a:rPr lang="en-US" dirty="0">
                <a:highlight>
                  <a:srgbClr val="FFFF00"/>
                </a:highlight>
              </a:rPr>
              <a:t>power modern mobile and web apps</a:t>
            </a:r>
            <a:r>
              <a:rPr lang="en-US" dirty="0"/>
              <a:t>.</a:t>
            </a:r>
          </a:p>
          <a:p>
            <a:r>
              <a:rPr lang="en-US" b="1" dirty="0"/>
              <a:t>IoT (Internet of Things):</a:t>
            </a:r>
            <a:r>
              <a:rPr lang="en-US" dirty="0"/>
              <a:t> Its low resource usage makes it perfect for managing data from thousands of connected sensors</a:t>
            </a:r>
          </a:p>
        </p:txBody>
      </p:sp>
    </p:spTree>
    <p:extLst>
      <p:ext uri="{BB962C8B-B14F-4D97-AF65-F5344CB8AC3E}">
        <p14:creationId xmlns:p14="http://schemas.microsoft.com/office/powerpoint/2010/main" val="419607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923B-FD4F-CF4C-4DDD-31411E93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JavaScript vs. Node.js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A2AF87-3280-736E-1E61-46F92915A2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34494"/>
          <a:ext cx="10515600" cy="2133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02970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2954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61231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Browser JavaScript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Node.js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41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Global Object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window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global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026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DOM Access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 (can change HTML/CSS)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(runs in a terminal)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95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File System</a:t>
                      </a:r>
                      <a:r>
                        <a:rPr lang="en-US" b="1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16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(for security reasons)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17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 (full read/write access)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18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468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Support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Fetch, Geolocation, Canvas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FS, Path, HTTP, OS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976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16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Google Sans Text</vt:lpstr>
      <vt:lpstr>Aptos</vt:lpstr>
      <vt:lpstr>Aptos Display</vt:lpstr>
      <vt:lpstr>Arial</vt:lpstr>
      <vt:lpstr>Office Theme</vt:lpstr>
      <vt:lpstr>What is Node.JS?</vt:lpstr>
      <vt:lpstr>Prerequisite</vt:lpstr>
      <vt:lpstr>Core Architecture of Node.js: How It Works</vt:lpstr>
      <vt:lpstr>Key Features of Node.js</vt:lpstr>
      <vt:lpstr>Common Use Case</vt:lpstr>
      <vt:lpstr>Browser JavaScript vs. Node.js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2026-01-05T01:02:52Z</dcterms:created>
  <dcterms:modified xsi:type="dcterms:W3CDTF">2026-01-05T01:03:51Z</dcterms:modified>
</cp:coreProperties>
</file>